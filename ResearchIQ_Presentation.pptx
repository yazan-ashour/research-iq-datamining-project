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274320"/>
            <a:ext cx="2286000" cy="2286000"/>
          </a:xfrm>
          <a:prstGeom prst="ellipse">
            <a:avLst/>
          </a:prstGeom>
          <a:solidFill>
            <a:srgbClr val="1323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ResearchIQ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 Intelligence Engine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unsupervised data mining platform for discovering knowledge patterns,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trends, and collaboration networks in scientific literature.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1600200" cy="292608"/>
          </a:xfrm>
          <a:prstGeom prst="rect">
            <a:avLst>
              <a:gd name="adj" fmla="val 18750"/>
            </a:avLst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5661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 / K-Means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40280" y="3566160"/>
            <a:ext cx="1600200" cy="292608"/>
          </a:xfrm>
          <a:prstGeom prst="rect">
            <a:avLst>
              <a:gd name="adj" fmla="val 18750"/>
            </a:avLst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35661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931920" y="3566160"/>
            <a:ext cx="1600200" cy="292608"/>
          </a:xfrm>
          <a:prstGeom prst="rect">
            <a:avLst>
              <a:gd name="adj" fmla="val 18750"/>
            </a:avLst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35661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Rules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23560" y="3566160"/>
            <a:ext cx="1600200" cy="292608"/>
          </a:xfrm>
          <a:prstGeom prst="rect">
            <a:avLst>
              <a:gd name="adj" fmla="val 18750"/>
            </a:avLst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35661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Forecasting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0" y="3566160"/>
            <a:ext cx="1600200" cy="292608"/>
          </a:xfrm>
          <a:prstGeom prst="rect">
            <a:avLst>
              <a:gd name="adj" fmla="val 18750"/>
            </a:avLst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35661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4251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Yazan Ashour  ·  Mohammad Amad  ·  Mohammad Ali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(10672349)  ·  An-Najah National University  ·  May 2026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Dr.-Ing. Ahmed Abualia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this?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09728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2606040" cy="1371600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88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2.5M+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papers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per year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06040" cy="1371600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188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91840" y="18288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CS/AI papers 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per month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2606040" cy="1371600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188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1.7M+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217920" y="18288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papers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dataset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Tools Are Failing Researchers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30632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returns irrelevant, noisy results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counts only reward old, established papers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visualize the overall landscape of a research field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mechanism to identify white spaces - topics ripe for new research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ResearchIQ - A fully unsupervised intelligence platform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09728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ResearchIQ automatically discovers hidden topic structures, maps collaboration networks, detects emerging trends, and recommends relevant papers - entirely without labeled data or human-defined categories.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4114800" cy="1051560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9659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51560" y="201168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topics are exploding right now?"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828800"/>
            <a:ext cx="4114800" cy="1051560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9659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440680" y="201168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bridges two different research subfields?"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4114800" cy="1051560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2004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51560" y="324612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should I read next?"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3063240"/>
            <a:ext cx="4114800" cy="1051560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32004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440680" y="324612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are the knowledge gaps in this field?"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Unsupervised  ·  No labeled data  ·  No predefined categories  ·  Patterns emerge from the data itself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Research Papers (Kaggle) + Semantic Scholar API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09728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4023360" cy="3474720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papers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14600" y="1600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million+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corpus (2015–2024)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14600" y="2103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~30,000–50,000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covered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14600" y="2606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CS, Math, Physics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supplement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14600" y="3108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Scholar API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097280"/>
            <a:ext cx="4114800" cy="3474720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Record Contains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160020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ID, Title, Full Abstract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list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date (year/month)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categories (e.g. cs.LG, cs.AI)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reference &amp; DOI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Scope: ArXiv papers from 2015 → 2024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Four-layer pipeline from raw data to interactive dashboard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09728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51960" y="1801368"/>
            <a:ext cx="640080" cy="2011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8412480" cy="804672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201168" cy="8046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97280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371600" y="145389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download → text cleaning → sentence-transformer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→ saved as .parquet &amp; .npy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51960" y="2788920"/>
            <a:ext cx="64008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039112"/>
            <a:ext cx="8412480" cy="804672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039112"/>
            <a:ext cx="20116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084832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2084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371600" y="24414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projection · K-Means clustering · NetworkX graphs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rules · cosine similarity · ARIMA time-series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51960" y="3776472"/>
            <a:ext cx="640080" cy="20116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026664"/>
            <a:ext cx="8412480" cy="804672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026664"/>
            <a:ext cx="201168" cy="80467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072384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71600" y="30723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Layer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371600" y="34290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get_recommendations() · get_trending_topics()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get_knowledge_gaps() · get_association_rules() - cached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014216"/>
            <a:ext cx="8412480" cy="804672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4014216"/>
            <a:ext cx="201168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059936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371600" y="40599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371600" y="441655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multi-page app · Plotly interactive charts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Map · Trend Explorer · Author Network · Recommender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Techniques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fully unsupervised techniques - zero labeled data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09728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51560"/>
            <a:ext cx="2743200" cy="1554480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27432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18872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" y="152704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(k=5) + HDBSCAN tried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1801368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papers into topic clusters from abstract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embeddings. Evaluated with Silhouette Score.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743200" cy="1554480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51560"/>
            <a:ext cx="2743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18872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Dim. Reduction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10128" y="152704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(50D) → UMAP (2D)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10128" y="1801368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Compresses embeddings for fast similarity,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projects to 2D interactive knowledge map.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1051560"/>
            <a:ext cx="2743200" cy="1554480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051560"/>
            <a:ext cx="274320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0488" y="118872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Analysis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90488" y="152704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- PageRank &amp; Betweenness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90488" y="1801368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&amp; co-authorship graphs. Identifies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influential papers and bridge researchers.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743200"/>
            <a:ext cx="2743200" cy="1554480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743200"/>
            <a:ext cx="27432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288036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9768" y="321868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auto-fit per category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9768" y="3493008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publication volume 2015–2024.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rising, stable, and declining topics.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0" y="2743200"/>
            <a:ext cx="2743200" cy="1554480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743200"/>
            <a:ext cx="2743200" cy="731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288036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10128" y="321868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on keyword+author+cluster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10128" y="3493008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concept dependencies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attention → positional encoding).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80760" y="2743200"/>
            <a:ext cx="2743200" cy="1554480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0760" y="2743200"/>
            <a:ext cx="27432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0488" y="288036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190488" y="321868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on embeddings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90488" y="3493008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paper &amp; collaborator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recommendations. No user history needed.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Pipeline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Multi-signal search → three recommendation types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09728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8412480" cy="685800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SearchContext: query_text + author_query + cluster_query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8412480" cy="594360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920240"/>
            <a:ext cx="841248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65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Ranking Score = 60% TF-IDF text similarity + 25% author match + 15% cluster match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697480"/>
            <a:ext cx="2743200" cy="1920240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697480"/>
            <a:ext cx="27432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346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49300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vector of top-5 results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cosine sim across all papers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46120" y="2697480"/>
            <a:ext cx="2743200" cy="1920240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2697480"/>
            <a:ext cx="2743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28346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Cluster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37560" y="349300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in matching topic clusters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semantic similarity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26480" y="2697480"/>
            <a:ext cx="2743200" cy="1920240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2697480"/>
            <a:ext cx="27432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28346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3493008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rules → author/keyword/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targets → quality-filtered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filter: association recs must match keyword/author OR have embedding similarity ≥ 0.35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 Mining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on multi-type transactions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09728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3931920" cy="3566160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Structure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paper becomes a transaction with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types of items: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325880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488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cluster:N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7452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topic cluster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807208"/>
            <a:ext cx="13258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0720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keyword:X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74520" y="28529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4 TF-IDF keywords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465576"/>
            <a:ext cx="132588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6557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author:name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74520" y="35112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 authors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42062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min_support = 0.001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min_confidence = 0.05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max_itemset_length = 2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80560" y="1051560"/>
            <a:ext cx="4297680" cy="3566160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0" y="1143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Rule Types Classified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0" y="155448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keyword_to_topic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topic_to_keyword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keyword_to_author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author_to_keyword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author_to_topic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topic_to_author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keyword_to_keyword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author_to_author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topic_to_topic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forecasting on 10 years of ArXiv publications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09728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51560"/>
            <a:ext cx="2743200" cy="1737360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61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41832" y="116128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&amp; Monthly Trends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170992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paper counts + normalized category share per year. 2026 flagged as partial year throughout.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743200" cy="1737360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161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822192" y="116128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Drift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91840" y="170992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per year extracts top keywords. Globally trending terms tracked as frequency rates.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1051560"/>
            <a:ext cx="2743200" cy="1737360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1161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702552" y="116128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&amp; CAGR Growth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172200" y="170992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% change and Compound Annual Growth Rate calculated per research category.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2743200" cy="1737360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41832" y="303580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11480" y="358444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× 1.5 bounds on normalized monthly share. Spikes and dips flagged automatically.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2926080"/>
            <a:ext cx="2743200" cy="1737360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91840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822192" y="303580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Forecasting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291840" y="358444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auto_arima selects best (p,d,q). Fits overall + per-category models. 12-month forecast with 95% CI.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2926080"/>
            <a:ext cx="2743200" cy="1737360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🖼️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702552" y="303580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Output Figures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172200" y="3584448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trends, keyword heatmap, category trends, growth rates, anomalies, ARIMA forecasts.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Outputs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Streamlit app - 5 analytical pages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09728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8412480" cy="713232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201168" cy="7132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51560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0789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Map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34440" y="13898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2D UMAP scatter plot. All papers as color-coded dots by cluster. Click any paper for details and citation network.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10512"/>
            <a:ext cx="8412480" cy="713232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810512"/>
            <a:ext cx="20116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856232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188366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Explorer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34440" y="219456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of publication volume per cluster 2015–2024. Rising and declining topics auto-flagged with growth rate %.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15184"/>
            <a:ext cx="8412480" cy="713232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615184"/>
            <a:ext cx="201168" cy="71323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660904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26883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Network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34440" y="299923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Force-directed co-authorship graph. Node size = PageRank. Bridge researchers connecting multiple clusters are highlighted.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419856"/>
            <a:ext cx="8412480" cy="713232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19856"/>
            <a:ext cx="20116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465576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34930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Recommender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234440" y="380390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title or keyword. Returns top 5 semantically similar papers with cosine similarity scores.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224528"/>
            <a:ext cx="8412480" cy="713232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224528"/>
            <a:ext cx="201168" cy="71323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270248"/>
            <a:ext cx="594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34440" y="4297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Gaps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234440" y="46085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list of topic combinations with high research potential but low current publication density - our most distinctive feature.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quality across all six techniques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09728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8412480" cy="685800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164592" cy="685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97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26080" y="116128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on 5,000-paper sample. K-Means chosen over HDBSCAN after HDBSCAN produced excessive noise ratio.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8412480" cy="685800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828800"/>
            <a:ext cx="16459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4360" y="21945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Variance (PCA) + Visual Separation (UMAP)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26080" y="193852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cumulative variance reported. UMAP quality assessed visually by cluster separation in the 2D map.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606040"/>
            <a:ext cx="8412480" cy="685800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606040"/>
            <a:ext cx="164592" cy="6858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4360" y="2971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· Confidence · Lift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926080" y="271576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ranked by lift × confidence. Quality filter prevents accepting cluster-only matches in recommendations.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383280"/>
            <a:ext cx="8412480" cy="685800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383280"/>
            <a:ext cx="16459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429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(ARIMA)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94360" y="3749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In-sample MAPE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926080" y="349300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reported for overall model and per-category models. auto_arima selects best order by AIC criterion.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160520"/>
            <a:ext cx="164592" cy="6858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206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94360" y="45262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Score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926080" y="427024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recommendation returned with its cosine similarity score so users can judge relevance themselves.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914400"/>
            <a:ext cx="4572000" cy="4572000"/>
          </a:xfrm>
          <a:prstGeom prst="ellipse">
            <a:avLst/>
          </a:prstGeom>
          <a:solidFill>
            <a:srgbClr val="1A2F45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1554480"/>
            <a:ext cx="3291840" cy="3291840"/>
          </a:xfrm>
          <a:prstGeom prst="ellipse">
            <a:avLst/>
          </a:prstGeom>
          <a:solidFill>
            <a:srgbClr val="13233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486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ResearchIQ - Key Contributions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unsupervised - zero labeled training data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1.7M ArXiv papers → interactive 2D knowledge map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3-way Apriori transactions (cluster + keyword + author)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forecasting per research category (2015–2026)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Gaps feature: finds white-space research opportunities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Streamlit dashboard with 5 analytical pages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0" y="2560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Dr.-Ing. Ahmed Abualia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0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Yazan Ashour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3630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Amad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0" y="39227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Ali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0" y="4297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An-Najah National University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(10672349) · May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ResearchIQ - Academic Research Intelligence Engine</dc:title>
  <dc:subject>PptxGenJS Presentation</dc:subject>
  <dc:creator>PptxGenJS</dc:creator>
  <cp:lastModifiedBy>PptxGenJS</cp:lastModifiedBy>
  <cp:revision>1</cp:revision>
  <dcterms:created xsi:type="dcterms:W3CDTF">2026-05-17T15:45:01Z</dcterms:created>
  <dcterms:modified xsi:type="dcterms:W3CDTF">2026-05-17T15:45:01Z</dcterms:modified>
</cp:coreProperties>
</file>